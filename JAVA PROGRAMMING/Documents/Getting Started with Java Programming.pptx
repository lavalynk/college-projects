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3">
  <p:sldMasterIdLst>
    <p:sldMasterId id="2147483680" r:id="rId1"/>
  </p:sldMasterIdLst>
  <p:notesMasterIdLst>
    <p:notesMasterId r:id="rId13"/>
  </p:notesMasterIdLst>
  <p:sldIdLst>
    <p:sldId id="256" r:id="rId2"/>
    <p:sldId id="293" r:id="rId3"/>
    <p:sldId id="259" r:id="rId4"/>
    <p:sldId id="303" r:id="rId5"/>
    <p:sldId id="304" r:id="rId6"/>
    <p:sldId id="294" r:id="rId7"/>
    <p:sldId id="290" r:id="rId8"/>
    <p:sldId id="305" r:id="rId9"/>
    <p:sldId id="262" r:id="rId10"/>
    <p:sldId id="302" r:id="rId11"/>
    <p:sldId id="264" r:id="rId12"/>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autoAdjust="0"/>
    <p:restoredTop sz="86410"/>
  </p:normalViewPr>
  <p:slideViewPr>
    <p:cSldViewPr snapToGrid="0">
      <p:cViewPr varScale="1">
        <p:scale>
          <a:sx n="58" d="100"/>
          <a:sy n="58" d="100"/>
        </p:scale>
        <p:origin x="1056" y="33"/>
      </p:cViewPr>
      <p:guideLst/>
    </p:cSldViewPr>
  </p:slideViewPr>
  <p:outlineViewPr>
    <p:cViewPr>
      <p:scale>
        <a:sx n="33" d="100"/>
        <a:sy n="33" d="100"/>
      </p:scale>
      <p:origin x="0" y="-25368"/>
    </p:cViewPr>
  </p:outlineViewPr>
  <p:notesTextViewPr>
    <p:cViewPr>
      <p:scale>
        <a:sx n="1" d="1"/>
        <a:sy n="1" d="1"/>
      </p:scale>
      <p:origin x="0" y="0"/>
    </p:cViewPr>
  </p:notesTextViewPr>
  <p:notesViewPr>
    <p:cSldViewPr snapToGrid="0">
      <p:cViewPr varScale="1">
        <p:scale>
          <a:sx n="60" d="100"/>
          <a:sy n="60" d="100"/>
        </p:scale>
        <p:origin x="3101" y="3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D52DD26E-C2C2-425F-8515-28227B00F71C}" type="datetimeFigureOut">
              <a:rPr lang="en-US" smtClean="0"/>
              <a:t>1/19/2022</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000F1B03-007C-423B-B62B-54DE41A6B659}" type="slidenum">
              <a:rPr lang="en-US" smtClean="0"/>
              <a:t>‹#›</a:t>
            </a:fld>
            <a:endParaRPr lang="en-US"/>
          </a:p>
        </p:txBody>
      </p:sp>
    </p:spTree>
    <p:extLst>
      <p:ext uri="{BB962C8B-B14F-4D97-AF65-F5344CB8AC3E}">
        <p14:creationId xmlns:p14="http://schemas.microsoft.com/office/powerpoint/2010/main" val="2236739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started with Java Programming</a:t>
            </a:r>
          </a:p>
        </p:txBody>
      </p:sp>
      <p:sp>
        <p:nvSpPr>
          <p:cNvPr id="4" name="Slide Number Placeholder 3"/>
          <p:cNvSpPr>
            <a:spLocks noGrp="1"/>
          </p:cNvSpPr>
          <p:nvPr>
            <p:ph type="sldNum" sz="quarter" idx="5"/>
          </p:nvPr>
        </p:nvSpPr>
        <p:spPr/>
        <p:txBody>
          <a:bodyPr/>
          <a:lstStyle/>
          <a:p>
            <a:fld id="{000F1B03-007C-423B-B62B-54DE41A6B659}" type="slidenum">
              <a:rPr lang="en-US" smtClean="0"/>
              <a:t>1</a:t>
            </a:fld>
            <a:endParaRPr lang="en-US"/>
          </a:p>
        </p:txBody>
      </p:sp>
    </p:spTree>
    <p:extLst>
      <p:ext uri="{BB962C8B-B14F-4D97-AF65-F5344CB8AC3E}">
        <p14:creationId xmlns:p14="http://schemas.microsoft.com/office/powerpoint/2010/main" val="4195537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lecture we will review the following: what is Java, the JVM, and how to install Java. At the conclusion of this lecture, you will be able to define the Java programming language, understand how java programming uses the JVM, and be able to install Java on your computer. </a:t>
            </a:r>
          </a:p>
        </p:txBody>
      </p:sp>
      <p:sp>
        <p:nvSpPr>
          <p:cNvPr id="4" name="Slide Number Placeholder 3"/>
          <p:cNvSpPr>
            <a:spLocks noGrp="1"/>
          </p:cNvSpPr>
          <p:nvPr>
            <p:ph type="sldNum" sz="quarter" idx="5"/>
          </p:nvPr>
        </p:nvSpPr>
        <p:spPr/>
        <p:txBody>
          <a:bodyPr/>
          <a:lstStyle/>
          <a:p>
            <a:fld id="{000F1B03-007C-423B-B62B-54DE41A6B659}" type="slidenum">
              <a:rPr lang="en-US" smtClean="0"/>
              <a:t>2</a:t>
            </a:fld>
            <a:endParaRPr lang="en-US"/>
          </a:p>
        </p:txBody>
      </p:sp>
    </p:spTree>
    <p:extLst>
      <p:ext uri="{BB962C8B-B14F-4D97-AF65-F5344CB8AC3E}">
        <p14:creationId xmlns:p14="http://schemas.microsoft.com/office/powerpoint/2010/main" val="2448754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Java programs are written as source code in the Java language. This is a human-readable programming language, which is strictly class based and object oriented. The language syntax is deliberately modeled on that of C and C++ and it was explicitly intended to be familiar to programmers coming from those languages.</a:t>
            </a:r>
          </a:p>
          <a:p>
            <a:pPr fontAlgn="base"/>
            <a:r>
              <a:rPr lang="en-US" dirty="0"/>
              <a:t>Java is relatively easy to read and write (sometimes a bit verbose). It has a simple program structure and is intended to be easy to learn and to teach. It builds on industry experience with languages like C++ and tries to remove complex features as well as preserving “what works” from previous programming languages.</a:t>
            </a:r>
          </a:p>
          <a:p>
            <a:pPr fontAlgn="base"/>
            <a:r>
              <a:rPr lang="en-US" dirty="0"/>
              <a:t>Overall, Java is intended to provide a stable, solid base for companies to develop business-critical applications. As a programming language, it has a relatively conservative design and a slow rate of change. These properties serve the goal of protecting the investment that organizations have made in Java technology.</a:t>
            </a:r>
          </a:p>
          <a:p>
            <a:endParaRPr lang="en-US" dirty="0"/>
          </a:p>
        </p:txBody>
      </p:sp>
      <p:sp>
        <p:nvSpPr>
          <p:cNvPr id="4" name="Slide Number Placeholder 3"/>
          <p:cNvSpPr>
            <a:spLocks noGrp="1"/>
          </p:cNvSpPr>
          <p:nvPr>
            <p:ph type="sldNum" sz="quarter" idx="5"/>
          </p:nvPr>
        </p:nvSpPr>
        <p:spPr/>
        <p:txBody>
          <a:bodyPr/>
          <a:lstStyle/>
          <a:p>
            <a:fld id="{000F1B03-007C-423B-B62B-54DE41A6B659}" type="slidenum">
              <a:rPr lang="en-US" smtClean="0"/>
              <a:t>3</a:t>
            </a:fld>
            <a:endParaRPr lang="en-US"/>
          </a:p>
        </p:txBody>
      </p:sp>
    </p:spTree>
    <p:extLst>
      <p:ext uri="{BB962C8B-B14F-4D97-AF65-F5344CB8AC3E}">
        <p14:creationId xmlns:p14="http://schemas.microsoft.com/office/powerpoint/2010/main" val="67608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the Java Virtual Machine to run our Java programs. These programs</a:t>
            </a:r>
            <a:r>
              <a:rPr lang="en-US" baseline="0" dirty="0"/>
              <a:t> cannot run unless this JVM is loaded on the system we are working on … in our case, we are using the Windows platform.</a:t>
            </a:r>
          </a:p>
          <a:p>
            <a:r>
              <a:rPr lang="en-US" baseline="0" dirty="0"/>
              <a:t>The JVM can run on many environments…all the way from Blu-Ray players to mainframe systems.</a:t>
            </a:r>
          </a:p>
          <a:p>
            <a:r>
              <a:rPr lang="en-US" baseline="0" dirty="0"/>
              <a:t>To start a java program, you must have a compiled version that you execute by type java arguments and program name. When we run our program it is the JVM that reads the Java bytecode and makes the program do what we programmed it to do.</a:t>
            </a:r>
            <a:endParaRPr lang="en-US" dirty="0"/>
          </a:p>
        </p:txBody>
      </p:sp>
      <p:sp>
        <p:nvSpPr>
          <p:cNvPr id="4" name="Slide Number Placeholder 3"/>
          <p:cNvSpPr>
            <a:spLocks noGrp="1"/>
          </p:cNvSpPr>
          <p:nvPr>
            <p:ph type="sldNum" sz="quarter" idx="5"/>
          </p:nvPr>
        </p:nvSpPr>
        <p:spPr/>
        <p:txBody>
          <a:bodyPr/>
          <a:lstStyle/>
          <a:p>
            <a:fld id="{000F1B03-007C-423B-B62B-54DE41A6B659}" type="slidenum">
              <a:rPr lang="en-US" smtClean="0"/>
              <a:t>4</a:t>
            </a:fld>
            <a:endParaRPr lang="en-US"/>
          </a:p>
        </p:txBody>
      </p:sp>
    </p:spTree>
    <p:extLst>
      <p:ext uri="{BB962C8B-B14F-4D97-AF65-F5344CB8AC3E}">
        <p14:creationId xmlns:p14="http://schemas.microsoft.com/office/powerpoint/2010/main" val="1766341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recent versions of Java. You can search the internet for “java </a:t>
            </a:r>
            <a:r>
              <a:rPr lang="en-US" dirty="0" err="1"/>
              <a:t>jdk</a:t>
            </a:r>
            <a:r>
              <a:rPr lang="en-US" dirty="0"/>
              <a:t> download” to see the most recent version of Java. If</a:t>
            </a:r>
            <a:r>
              <a:rPr lang="en-US" baseline="0" dirty="0"/>
              <a:t> you have another version loaded, I encourage you to take the time and do an update so you will be running on the most recent version. </a:t>
            </a:r>
            <a:endParaRPr lang="en-US" dirty="0"/>
          </a:p>
        </p:txBody>
      </p:sp>
      <p:sp>
        <p:nvSpPr>
          <p:cNvPr id="4" name="Slide Number Placeholder 3"/>
          <p:cNvSpPr>
            <a:spLocks noGrp="1"/>
          </p:cNvSpPr>
          <p:nvPr>
            <p:ph type="sldNum" sz="quarter" idx="5"/>
          </p:nvPr>
        </p:nvSpPr>
        <p:spPr/>
        <p:txBody>
          <a:bodyPr/>
          <a:lstStyle/>
          <a:p>
            <a:fld id="{000F1B03-007C-423B-B62B-54DE41A6B659}" type="slidenum">
              <a:rPr lang="en-US" smtClean="0"/>
              <a:t>5</a:t>
            </a:fld>
            <a:endParaRPr lang="en-US"/>
          </a:p>
        </p:txBody>
      </p:sp>
    </p:spTree>
    <p:extLst>
      <p:ext uri="{BB962C8B-B14F-4D97-AF65-F5344CB8AC3E}">
        <p14:creationId xmlns:p14="http://schemas.microsoft.com/office/powerpoint/2010/main" val="266556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to setup your environment in order to program in Java. Be sure to follow ALL the steps outlined in the document posted on </a:t>
            </a:r>
            <a:r>
              <a:rPr lang="en-US" dirty="0" err="1"/>
              <a:t>BlackBoard</a:t>
            </a:r>
            <a:r>
              <a:rPr lang="en-US" dirty="0"/>
              <a:t>. This includes downloading the JDK, installing Java, and configuring the Java system variable path. Be sure to read the entire document before you start the installation. Some students have to do this more once due to missing some steps. Once you get Eclipse installed, you will create, test, and execute your first Java program. Then, you can sit back, relax, and prepare for more Java programming!</a:t>
            </a:r>
          </a:p>
        </p:txBody>
      </p:sp>
      <p:sp>
        <p:nvSpPr>
          <p:cNvPr id="4" name="Slide Number Placeholder 3"/>
          <p:cNvSpPr>
            <a:spLocks noGrp="1"/>
          </p:cNvSpPr>
          <p:nvPr>
            <p:ph type="sldNum" sz="quarter" idx="5"/>
          </p:nvPr>
        </p:nvSpPr>
        <p:spPr/>
        <p:txBody>
          <a:bodyPr/>
          <a:lstStyle/>
          <a:p>
            <a:fld id="{000F1B03-007C-423B-B62B-54DE41A6B659}" type="slidenum">
              <a:rPr lang="en-US" smtClean="0"/>
              <a:t>6</a:t>
            </a:fld>
            <a:endParaRPr lang="en-US"/>
          </a:p>
        </p:txBody>
      </p:sp>
    </p:spTree>
    <p:extLst>
      <p:ext uri="{BB962C8B-B14F-4D97-AF65-F5344CB8AC3E}">
        <p14:creationId xmlns:p14="http://schemas.microsoft.com/office/powerpoint/2010/main" val="1965724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to the Install Java JDK document posted on </a:t>
            </a:r>
            <a:r>
              <a:rPr lang="en-US" dirty="0" err="1"/>
              <a:t>BlackBoard</a:t>
            </a:r>
            <a:r>
              <a:rPr lang="en-US" dirty="0"/>
              <a:t>. The downloads are changing every six months so you if you some discrepancies between the document and what you is online, just search the internet for “Java JDK Download” and follow the instructions online.</a:t>
            </a:r>
          </a:p>
        </p:txBody>
      </p:sp>
      <p:sp>
        <p:nvSpPr>
          <p:cNvPr id="4" name="Slide Number Placeholder 3"/>
          <p:cNvSpPr>
            <a:spLocks noGrp="1"/>
          </p:cNvSpPr>
          <p:nvPr>
            <p:ph type="sldNum" sz="quarter" idx="5"/>
          </p:nvPr>
        </p:nvSpPr>
        <p:spPr/>
        <p:txBody>
          <a:bodyPr/>
          <a:lstStyle/>
          <a:p>
            <a:fld id="{000F1B03-007C-423B-B62B-54DE41A6B659}" type="slidenum">
              <a:rPr lang="en-US" smtClean="0"/>
              <a:t>7</a:t>
            </a:fld>
            <a:endParaRPr lang="en-US"/>
          </a:p>
        </p:txBody>
      </p:sp>
    </p:spTree>
    <p:extLst>
      <p:ext uri="{BB962C8B-B14F-4D97-AF65-F5344CB8AC3E}">
        <p14:creationId xmlns:p14="http://schemas.microsoft.com/office/powerpoint/2010/main" val="446048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to this document on </a:t>
            </a:r>
            <a:r>
              <a:rPr lang="en-US" dirty="0" err="1"/>
              <a:t>BlackBoard</a:t>
            </a:r>
            <a:r>
              <a:rPr lang="en-US" dirty="0"/>
              <a:t> for the download, installation, and setup of Java.</a:t>
            </a:r>
          </a:p>
        </p:txBody>
      </p:sp>
      <p:sp>
        <p:nvSpPr>
          <p:cNvPr id="4" name="Slide Number Placeholder 3"/>
          <p:cNvSpPr>
            <a:spLocks noGrp="1"/>
          </p:cNvSpPr>
          <p:nvPr>
            <p:ph type="sldNum" sz="quarter" idx="5"/>
          </p:nvPr>
        </p:nvSpPr>
        <p:spPr/>
        <p:txBody>
          <a:bodyPr/>
          <a:lstStyle/>
          <a:p>
            <a:fld id="{000F1B03-007C-423B-B62B-54DE41A6B659}" type="slidenum">
              <a:rPr lang="en-US" smtClean="0"/>
              <a:t>8</a:t>
            </a:fld>
            <a:endParaRPr lang="en-US"/>
          </a:p>
        </p:txBody>
      </p:sp>
    </p:spTree>
    <p:extLst>
      <p:ext uri="{BB962C8B-B14F-4D97-AF65-F5344CB8AC3E}">
        <p14:creationId xmlns:p14="http://schemas.microsoft.com/office/powerpoint/2010/main" val="3963539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take a moment and review these questions.</a:t>
            </a:r>
          </a:p>
        </p:txBody>
      </p:sp>
      <p:sp>
        <p:nvSpPr>
          <p:cNvPr id="4" name="Slide Number Placeholder 3"/>
          <p:cNvSpPr>
            <a:spLocks noGrp="1"/>
          </p:cNvSpPr>
          <p:nvPr>
            <p:ph type="sldNum" sz="quarter" idx="5"/>
          </p:nvPr>
        </p:nvSpPr>
        <p:spPr/>
        <p:txBody>
          <a:bodyPr/>
          <a:lstStyle/>
          <a:p>
            <a:fld id="{000F1B03-007C-423B-B62B-54DE41A6B659}" type="slidenum">
              <a:rPr lang="en-US" smtClean="0"/>
              <a:t>9</a:t>
            </a:fld>
            <a:endParaRPr lang="en-US"/>
          </a:p>
        </p:txBody>
      </p:sp>
    </p:spTree>
    <p:extLst>
      <p:ext uri="{BB962C8B-B14F-4D97-AF65-F5344CB8AC3E}">
        <p14:creationId xmlns:p14="http://schemas.microsoft.com/office/powerpoint/2010/main" val="997818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review the answers. JDK stands for Java Development Kit. You must set your path system variable in windows so Java will work. JVM means Java Virtual Machine.</a:t>
            </a:r>
          </a:p>
        </p:txBody>
      </p:sp>
      <p:sp>
        <p:nvSpPr>
          <p:cNvPr id="4" name="Slide Number Placeholder 3"/>
          <p:cNvSpPr>
            <a:spLocks noGrp="1"/>
          </p:cNvSpPr>
          <p:nvPr>
            <p:ph type="sldNum" sz="quarter" idx="5"/>
          </p:nvPr>
        </p:nvSpPr>
        <p:spPr/>
        <p:txBody>
          <a:bodyPr/>
          <a:lstStyle/>
          <a:p>
            <a:fld id="{000F1B03-007C-423B-B62B-54DE41A6B659}" type="slidenum">
              <a:rPr lang="en-US" smtClean="0"/>
              <a:t>10</a:t>
            </a:fld>
            <a:endParaRPr lang="en-US"/>
          </a:p>
        </p:txBody>
      </p:sp>
    </p:spTree>
    <p:extLst>
      <p:ext uri="{BB962C8B-B14F-4D97-AF65-F5344CB8AC3E}">
        <p14:creationId xmlns:p14="http://schemas.microsoft.com/office/powerpoint/2010/main" val="1904973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completed this lecture. Now, you can download the Java JDK and perform the installation steps. The JRE is part of the JDK and is used to execute the compiled Java programs. The JVM is required to execute your Java programs.</a:t>
            </a:r>
          </a:p>
        </p:txBody>
      </p:sp>
      <p:sp>
        <p:nvSpPr>
          <p:cNvPr id="4" name="Slide Number Placeholder 3"/>
          <p:cNvSpPr>
            <a:spLocks noGrp="1"/>
          </p:cNvSpPr>
          <p:nvPr>
            <p:ph type="sldNum" sz="quarter" idx="5"/>
          </p:nvPr>
        </p:nvSpPr>
        <p:spPr/>
        <p:txBody>
          <a:bodyPr/>
          <a:lstStyle/>
          <a:p>
            <a:fld id="{000F1B03-007C-423B-B62B-54DE41A6B659}" type="slidenum">
              <a:rPr lang="en-US" smtClean="0"/>
              <a:t>11</a:t>
            </a:fld>
            <a:endParaRPr lang="en-US"/>
          </a:p>
        </p:txBody>
      </p:sp>
    </p:spTree>
    <p:extLst>
      <p:ext uri="{BB962C8B-B14F-4D97-AF65-F5344CB8AC3E}">
        <p14:creationId xmlns:p14="http://schemas.microsoft.com/office/powerpoint/2010/main" val="1195750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4369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9773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5068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994384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4273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04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56679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2A54C80-263E-416B-A8E0-580EDEADCBDC}" type="datetimeFigureOut">
              <a:rPr lang="en-US" smtClean="0"/>
              <a:t>1/19/2022</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9954A3-9DFD-4C44-94BA-B95130A3BA1C}" type="slidenum">
              <a:rPr lang="en-US" smtClean="0"/>
              <a:t>‹#›</a:t>
            </a:fld>
            <a:endParaRPr lang="en-US" dirty="0"/>
          </a:p>
        </p:txBody>
      </p:sp>
    </p:spTree>
    <p:extLst>
      <p:ext uri="{BB962C8B-B14F-4D97-AF65-F5344CB8AC3E}">
        <p14:creationId xmlns:p14="http://schemas.microsoft.com/office/powerpoint/2010/main" val="1840151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9932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978538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1806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1/19/2022</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91139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Java_(programming_languag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oracle.com/java/technologies/javase-downloads.html#JDK17"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B96A5-9ADB-4713-AD74-AF38CCE4000D}"/>
              </a:ext>
            </a:extLst>
          </p:cNvPr>
          <p:cNvSpPr>
            <a:spLocks noGrp="1"/>
          </p:cNvSpPr>
          <p:nvPr>
            <p:ph type="ctrTitle"/>
          </p:nvPr>
        </p:nvSpPr>
        <p:spPr/>
        <p:txBody>
          <a:bodyPr/>
          <a:lstStyle/>
          <a:p>
            <a:r>
              <a:rPr lang="en-US" dirty="0"/>
              <a:t>Getting Started</a:t>
            </a:r>
          </a:p>
        </p:txBody>
      </p:sp>
      <p:sp>
        <p:nvSpPr>
          <p:cNvPr id="3" name="Subtitle 2">
            <a:extLst>
              <a:ext uri="{FF2B5EF4-FFF2-40B4-BE49-F238E27FC236}">
                <a16:creationId xmlns:a16="http://schemas.microsoft.com/office/drawing/2014/main" id="{8B4BB7A3-D4E9-493D-B053-2AECFB3916D8}"/>
              </a:ext>
            </a:extLst>
          </p:cNvPr>
          <p:cNvSpPr>
            <a:spLocks noGrp="1"/>
          </p:cNvSpPr>
          <p:nvPr>
            <p:ph type="subTitle" idx="1"/>
          </p:nvPr>
        </p:nvSpPr>
        <p:spPr/>
        <p:txBody>
          <a:bodyPr/>
          <a:lstStyle/>
          <a:p>
            <a:r>
              <a:rPr lang="en-US" dirty="0"/>
              <a:t>Java programming</a:t>
            </a:r>
          </a:p>
        </p:txBody>
      </p:sp>
      <p:pic>
        <p:nvPicPr>
          <p:cNvPr id="5" name="Picture 4">
            <a:extLst>
              <a:ext uri="{FF2B5EF4-FFF2-40B4-BE49-F238E27FC236}">
                <a16:creationId xmlns:a16="http://schemas.microsoft.com/office/drawing/2014/main" id="{C6EF7FCC-7DA3-4A5E-B43E-52AC2359E903}"/>
              </a:ext>
            </a:extLst>
          </p:cNvPr>
          <p:cNvPicPr>
            <a:picLocks noChangeAspect="1"/>
          </p:cNvPicPr>
          <p:nvPr/>
        </p:nvPicPr>
        <p:blipFill>
          <a:blip r:embed="rId3"/>
          <a:stretch>
            <a:fillRect/>
          </a:stretch>
        </p:blipFill>
        <p:spPr>
          <a:xfrm>
            <a:off x="1606775" y="1019175"/>
            <a:ext cx="3062879" cy="880578"/>
          </a:xfrm>
          <a:prstGeom prst="rect">
            <a:avLst/>
          </a:prstGeom>
        </p:spPr>
      </p:pic>
    </p:spTree>
    <p:extLst>
      <p:ext uri="{BB962C8B-B14F-4D97-AF65-F5344CB8AC3E}">
        <p14:creationId xmlns:p14="http://schemas.microsoft.com/office/powerpoint/2010/main" val="195997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Lecture Overview</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3" y="1078268"/>
            <a:ext cx="10952690" cy="5173242"/>
          </a:xfrm>
          <a:solidFill>
            <a:schemeClr val="bg1"/>
          </a:solidFill>
        </p:spPr>
        <p:txBody>
          <a:bodyPr>
            <a:normAutofit fontScale="92500" lnSpcReduction="10000"/>
          </a:bodyPr>
          <a:lstStyle/>
          <a:p>
            <a:r>
              <a:rPr lang="en-US" sz="2200" dirty="0"/>
              <a:t>We will cover Java Environment:</a:t>
            </a:r>
          </a:p>
          <a:p>
            <a:pPr lvl="1">
              <a:buFont typeface="Courier New" panose="02070309020205020404" pitchFamily="49" charset="0"/>
              <a:buChar char="o"/>
            </a:pPr>
            <a:r>
              <a:rPr lang="en-US" sz="2200" dirty="0"/>
              <a:t>What is Java?</a:t>
            </a:r>
          </a:p>
          <a:p>
            <a:pPr lvl="1">
              <a:buFont typeface="Courier New" panose="02070309020205020404" pitchFamily="49" charset="0"/>
              <a:buChar char="o"/>
            </a:pPr>
            <a:r>
              <a:rPr lang="en-US" sz="2200" dirty="0"/>
              <a:t>What is the JVM?</a:t>
            </a:r>
          </a:p>
          <a:p>
            <a:pPr lvl="1">
              <a:buFont typeface="Courier New" panose="02070309020205020404" pitchFamily="49" charset="0"/>
              <a:buChar char="o"/>
            </a:pPr>
            <a:r>
              <a:rPr lang="en-US" sz="2200" dirty="0"/>
              <a:t>How to Install Java</a:t>
            </a:r>
          </a:p>
          <a:p>
            <a:r>
              <a:rPr lang="en-US" sz="2200" dirty="0"/>
              <a:t>Lecture Outcomes - At the conclusion of this lecture you should:</a:t>
            </a:r>
          </a:p>
          <a:p>
            <a:pPr lvl="1">
              <a:buFont typeface="Courier New" panose="02070309020205020404" pitchFamily="49" charset="0"/>
              <a:buChar char="o"/>
            </a:pPr>
            <a:r>
              <a:rPr lang="en-US" sz="2200" dirty="0"/>
              <a:t>Define the Java Programming Language</a:t>
            </a:r>
          </a:p>
          <a:p>
            <a:pPr lvl="1">
              <a:buFont typeface="Courier New" panose="02070309020205020404" pitchFamily="49" charset="0"/>
              <a:buChar char="o"/>
            </a:pPr>
            <a:r>
              <a:rPr lang="en-US" sz="2200" dirty="0"/>
              <a:t>Understand how Java Programming uses the JVM</a:t>
            </a:r>
          </a:p>
          <a:p>
            <a:pPr lvl="1">
              <a:buFont typeface="Courier New" panose="02070309020205020404" pitchFamily="49" charset="0"/>
              <a:buChar char="o"/>
            </a:pPr>
            <a:r>
              <a:rPr lang="en-US" sz="2200" dirty="0"/>
              <a:t>Install Java on your PC</a:t>
            </a:r>
          </a:p>
          <a:p>
            <a:r>
              <a:rPr lang="en-US" sz="2200" dirty="0"/>
              <a:t>How to Achieve Outcomes:</a:t>
            </a:r>
          </a:p>
          <a:p>
            <a:pPr lvl="1">
              <a:buFont typeface="Courier New" panose="02070309020205020404" pitchFamily="49" charset="0"/>
              <a:buChar char="o"/>
            </a:pPr>
            <a:r>
              <a:rPr lang="en-US" sz="2200" dirty="0"/>
              <a:t>Review this lecture</a:t>
            </a:r>
          </a:p>
          <a:p>
            <a:pPr lvl="1">
              <a:buFont typeface="Courier New" panose="02070309020205020404" pitchFamily="49" charset="0"/>
              <a:buChar char="o"/>
            </a:pPr>
            <a:r>
              <a:rPr lang="en-US" sz="2200" dirty="0"/>
              <a:t>Apply your knowledge by doing research on Java and installing Java</a:t>
            </a:r>
          </a:p>
          <a:p>
            <a:r>
              <a:rPr lang="en-US" sz="2200" dirty="0"/>
              <a:t>Supporting link(s):</a:t>
            </a:r>
          </a:p>
          <a:p>
            <a:r>
              <a:rPr lang="en-US" sz="2200" dirty="0"/>
              <a:t>On the web, you can search for “What is Java Programming”</a:t>
            </a:r>
          </a:p>
          <a:p>
            <a:pPr lvl="1">
              <a:buFont typeface="Courier New" panose="02070309020205020404" pitchFamily="49" charset="0"/>
              <a:buChar char="o"/>
            </a:pPr>
            <a:r>
              <a:rPr lang="en-US" sz="2200" dirty="0">
                <a:hlinkClick r:id="rId3"/>
              </a:rPr>
              <a:t>https://en.wikipedia.org/wiki/Java_(programming_language)</a:t>
            </a:r>
            <a:endParaRPr lang="en-US" sz="2200" dirty="0"/>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4"/>
          <a:stretch>
            <a:fillRect/>
          </a:stretch>
        </p:blipFill>
        <p:spPr>
          <a:xfrm>
            <a:off x="10401300" y="264136"/>
            <a:ext cx="1534911" cy="441287"/>
          </a:xfrm>
          <a:prstGeom prst="rect">
            <a:avLst/>
          </a:prstGeom>
        </p:spPr>
      </p:pic>
      <p:pic>
        <p:nvPicPr>
          <p:cNvPr id="6" name="Picture 5">
            <a:extLst>
              <a:ext uri="{FF2B5EF4-FFF2-40B4-BE49-F238E27FC236}">
                <a16:creationId xmlns:a16="http://schemas.microsoft.com/office/drawing/2014/main" id="{4BF560FC-E344-44D7-BA4D-606C5ABA3BDD}"/>
              </a:ext>
            </a:extLst>
          </p:cNvPr>
          <p:cNvPicPr>
            <a:picLocks noChangeAspect="1"/>
          </p:cNvPicPr>
          <p:nvPr/>
        </p:nvPicPr>
        <p:blipFill>
          <a:blip r:embed="rId5"/>
          <a:stretch>
            <a:fillRect/>
          </a:stretch>
        </p:blipFill>
        <p:spPr>
          <a:xfrm>
            <a:off x="8795629" y="2595746"/>
            <a:ext cx="2719038" cy="1666508"/>
          </a:xfrm>
          <a:prstGeom prst="rect">
            <a:avLst/>
          </a:prstGeom>
        </p:spPr>
      </p:pic>
    </p:spTree>
    <p:extLst>
      <p:ext uri="{BB962C8B-B14F-4D97-AF65-F5344CB8AC3E}">
        <p14:creationId xmlns:p14="http://schemas.microsoft.com/office/powerpoint/2010/main" val="3806697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The Java Programming Language</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fontScale="92500" lnSpcReduction="20000"/>
          </a:bodyPr>
          <a:lstStyle/>
          <a:p>
            <a:pPr fontAlgn="base"/>
            <a:r>
              <a:rPr lang="en-US" sz="2600" dirty="0"/>
              <a:t>Java Syntax: </a:t>
            </a:r>
          </a:p>
          <a:p>
            <a:pPr lvl="1" fontAlgn="base">
              <a:buFont typeface="Courier New" panose="02070309020205020404" pitchFamily="49" charset="0"/>
              <a:buChar char="o"/>
            </a:pPr>
            <a:r>
              <a:rPr lang="en-US" sz="2200" dirty="0"/>
              <a:t>modeled on that of C and C++</a:t>
            </a:r>
          </a:p>
          <a:p>
            <a:pPr fontAlgn="base"/>
            <a:r>
              <a:rPr lang="en-US" sz="2600" dirty="0"/>
              <a:t>Java programs are:</a:t>
            </a:r>
          </a:p>
          <a:p>
            <a:pPr lvl="1" fontAlgn="base">
              <a:buFont typeface="Courier New" panose="02070309020205020404" pitchFamily="49" charset="0"/>
              <a:buChar char="o"/>
            </a:pPr>
            <a:r>
              <a:rPr lang="en-US" sz="2200" dirty="0"/>
              <a:t>written as source code in the Java language</a:t>
            </a:r>
          </a:p>
          <a:p>
            <a:pPr lvl="1" fontAlgn="base">
              <a:buFont typeface="Courier New" panose="02070309020205020404" pitchFamily="49" charset="0"/>
              <a:buChar char="o"/>
            </a:pPr>
            <a:r>
              <a:rPr lang="en-US" sz="2200" dirty="0"/>
              <a:t>human-readable programming language</a:t>
            </a:r>
          </a:p>
          <a:p>
            <a:pPr lvl="1" fontAlgn="base">
              <a:buFont typeface="Courier New" panose="02070309020205020404" pitchFamily="49" charset="0"/>
              <a:buChar char="o"/>
            </a:pPr>
            <a:r>
              <a:rPr lang="en-US" sz="2200" dirty="0"/>
              <a:t>class based and object oriented</a:t>
            </a:r>
          </a:p>
          <a:p>
            <a:pPr lvl="1" fontAlgn="base">
              <a:buFont typeface="Courier New" panose="02070309020205020404" pitchFamily="49" charset="0"/>
              <a:buChar char="o"/>
            </a:pPr>
            <a:r>
              <a:rPr lang="en-US" sz="2200" dirty="0"/>
              <a:t>Easy to read and write</a:t>
            </a:r>
          </a:p>
          <a:p>
            <a:pPr lvl="1" fontAlgn="base">
              <a:buFont typeface="Courier New" panose="02070309020205020404" pitchFamily="49" charset="0"/>
              <a:buChar char="o"/>
            </a:pPr>
            <a:r>
              <a:rPr lang="en-US" sz="2200" dirty="0"/>
              <a:t>Has rigid grammar</a:t>
            </a:r>
          </a:p>
          <a:p>
            <a:pPr lvl="1" fontAlgn="base">
              <a:buFont typeface="Courier New" panose="02070309020205020404" pitchFamily="49" charset="0"/>
              <a:buChar char="o"/>
            </a:pPr>
            <a:r>
              <a:rPr lang="en-US" sz="2200" dirty="0"/>
              <a:t>Builds on industry standards from “what works” from previous programming languages</a:t>
            </a:r>
          </a:p>
          <a:p>
            <a:pPr fontAlgn="base"/>
            <a:r>
              <a:rPr lang="en-US" sz="2600" dirty="0"/>
              <a:t>In business: </a:t>
            </a:r>
          </a:p>
          <a:p>
            <a:pPr lvl="1" fontAlgn="base">
              <a:buFont typeface="Courier New" panose="02070309020205020404" pitchFamily="49" charset="0"/>
              <a:buChar char="o"/>
            </a:pPr>
            <a:r>
              <a:rPr lang="en-US" sz="2200" dirty="0"/>
              <a:t>intended to provide a stable base for companies to develop business-critical applications</a:t>
            </a:r>
          </a:p>
          <a:p>
            <a:pPr lvl="1" fontAlgn="base">
              <a:buFont typeface="Courier New" panose="02070309020205020404" pitchFamily="49" charset="0"/>
              <a:buChar char="o"/>
            </a:pPr>
            <a:r>
              <a:rPr lang="en-US" sz="2200" dirty="0"/>
              <a:t>has a relatively conservative design and a slow rate of change to protect the investment that organizations have made in Java technology</a:t>
            </a:r>
          </a:p>
          <a:p>
            <a:pPr marL="0" indent="0" fontAlgn="base">
              <a:buNone/>
            </a:pPr>
            <a:br>
              <a:rPr lang="en-US" dirty="0"/>
            </a:br>
            <a:endParaRPr lang="en-US" dirty="0"/>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3279606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19654" y="0"/>
            <a:ext cx="10952691" cy="977326"/>
          </a:xfrm>
        </p:spPr>
        <p:txBody>
          <a:bodyPr/>
          <a:lstStyle/>
          <a:p>
            <a:r>
              <a:rPr lang="en-US" dirty="0"/>
              <a:t>What is the JVM?</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a:bodyPr>
          <a:lstStyle/>
          <a:p>
            <a:r>
              <a:rPr lang="en-US" dirty="0"/>
              <a:t>The JVM is a program that provides the runtime environment necessary for Java programs to execute. Java programs cannot run unless there is a JVM available for the appropriate hardware and OS platform we wish to execute on.</a:t>
            </a:r>
          </a:p>
          <a:p>
            <a:r>
              <a:rPr lang="en-US" dirty="0"/>
              <a:t>Fortunately, the JVM has been ported to run on many environments—anything from Blu-ray player to a mainframe will probably have a JVM available for it.</a:t>
            </a:r>
          </a:p>
          <a:p>
            <a:r>
              <a:rPr lang="en-US" dirty="0"/>
              <a:t>Java programs are typically started from a command line like this:</a:t>
            </a:r>
          </a:p>
          <a:p>
            <a:pPr lvl="1"/>
            <a:r>
              <a:rPr lang="en-US" dirty="0">
                <a:latin typeface="Courier New" panose="02070309020205020404" pitchFamily="49" charset="0"/>
                <a:cs typeface="Courier New" panose="02070309020205020404" pitchFamily="49" charset="0"/>
              </a:rPr>
              <a:t>java &lt;arguments&gt; &lt;program name&gt;</a:t>
            </a:r>
          </a:p>
          <a:p>
            <a:r>
              <a:rPr lang="en-US" dirty="0"/>
              <a:t>This brings up the JVM as an operating system process that provides the Java runtime environment, and then executes our program in the virtual machine.</a:t>
            </a:r>
          </a:p>
          <a:p>
            <a:r>
              <a:rPr lang="en-US" dirty="0"/>
              <a:t>It is important to understand that when the JVM takes in a Java program for execution, the program is not provided as Java language source code. Instead, the Java language source must have been converted (or compiled) into a form known as Java bytecode. Java bytecode must be supplied to the JVM in a format called class files (which always have a .class extension).</a:t>
            </a: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3117447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Recent Java Versions</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5047371"/>
          </a:xfrm>
          <a:solidFill>
            <a:schemeClr val="bg1"/>
          </a:solidFill>
        </p:spPr>
        <p:txBody>
          <a:bodyPr>
            <a:normAutofit/>
          </a:bodyPr>
          <a:lstStyle/>
          <a:p>
            <a:r>
              <a:rPr lang="en-US" sz="2800" b="1" dirty="0"/>
              <a:t>Java 17 (January 2022)</a:t>
            </a:r>
          </a:p>
          <a:p>
            <a:pPr algn="l">
              <a:buFont typeface="Arial" panose="020B0604020202020204" pitchFamily="34" charset="0"/>
              <a:buChar char="•"/>
            </a:pPr>
            <a:r>
              <a:rPr lang="en-US" sz="2400" b="1" i="0" u="none" strike="noStrike" dirty="0">
                <a:solidFill>
                  <a:srgbClr val="006B8F"/>
                </a:solidFill>
                <a:effectLst/>
                <a:latin typeface="OracleSansVF"/>
                <a:hlinkClick r:id="rId3"/>
              </a:rPr>
              <a:t>Java Platform, Standard Edition 17</a:t>
            </a:r>
            <a:r>
              <a:rPr lang="en-US" sz="2400" b="0" i="0" dirty="0">
                <a:solidFill>
                  <a:srgbClr val="000000"/>
                </a:solidFill>
                <a:effectLst/>
                <a:latin typeface="OracleSansVF"/>
              </a:rPr>
              <a:t>Java SE 17.0.2 is the latest release of Java SE Platform. Oracle strongly recommends that all Java SE users upgrade to this release.</a:t>
            </a:r>
            <a:endParaRPr lang="en-US" sz="2800" dirty="0"/>
          </a:p>
          <a:p>
            <a:r>
              <a:rPr lang="en-US" sz="2800" dirty="0"/>
              <a:t>Just open a web browser and search for “Java JDK download” to find the current version of Java.</a:t>
            </a: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4"/>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1803765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Setting up your Computer</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a:bodyPr>
          <a:lstStyle/>
          <a:p>
            <a:r>
              <a:rPr lang="en-US" dirty="0">
                <a:solidFill>
                  <a:schemeClr val="tx1"/>
                </a:solidFill>
              </a:rPr>
              <a:t>In order to get programming in Java you need to do the following steps:</a:t>
            </a:r>
          </a:p>
          <a:p>
            <a:pPr marL="457200" indent="-457200">
              <a:buFont typeface="+mj-lt"/>
              <a:buAutoNum type="arabicPeriod"/>
            </a:pPr>
            <a:r>
              <a:rPr lang="en-US" dirty="0">
                <a:solidFill>
                  <a:schemeClr val="tx1"/>
                </a:solidFill>
              </a:rPr>
              <a:t>Download the Java SE JDK, Install Java SE JDK, and configure the System Variable Path for Java. - Refer to the word document posted on </a:t>
            </a:r>
            <a:r>
              <a:rPr lang="en-US" dirty="0" err="1">
                <a:solidFill>
                  <a:schemeClr val="tx1"/>
                </a:solidFill>
              </a:rPr>
              <a:t>BlackBoard</a:t>
            </a:r>
            <a:r>
              <a:rPr lang="en-US" dirty="0">
                <a:solidFill>
                  <a:schemeClr val="tx1"/>
                </a:solidFill>
              </a:rPr>
              <a:t>. </a:t>
            </a:r>
            <a:r>
              <a:rPr lang="en-US" dirty="0">
                <a:solidFill>
                  <a:schemeClr val="tx1"/>
                </a:solidFill>
                <a:highlight>
                  <a:srgbClr val="FFFF00"/>
                </a:highlight>
              </a:rPr>
              <a:t>Please follow all the steps. </a:t>
            </a:r>
            <a:r>
              <a:rPr lang="en-US" dirty="0">
                <a:solidFill>
                  <a:schemeClr val="tx1"/>
                </a:solidFill>
              </a:rPr>
              <a:t>Once you set this up, you will not have to do it again! After doing this setup over and over again, I suggest that you read the document first before starting the install. This is where students have the most difficulty!</a:t>
            </a:r>
          </a:p>
          <a:p>
            <a:pPr marL="457200" indent="-457200">
              <a:buFont typeface="+mj-lt"/>
              <a:buAutoNum type="arabicPeriod"/>
            </a:pPr>
            <a:r>
              <a:rPr lang="en-US" dirty="0">
                <a:solidFill>
                  <a:schemeClr val="tx1"/>
                </a:solidFill>
              </a:rPr>
              <a:t>Download, install, and setup Eclipse. Refer to the Eclipse </a:t>
            </a:r>
            <a:r>
              <a:rPr lang="en-US" dirty="0" err="1">
                <a:solidFill>
                  <a:schemeClr val="tx1"/>
                </a:solidFill>
              </a:rPr>
              <a:t>powerpoint</a:t>
            </a:r>
            <a:r>
              <a:rPr lang="en-US" dirty="0">
                <a:solidFill>
                  <a:schemeClr val="tx1"/>
                </a:solidFill>
              </a:rPr>
              <a:t> to walk your through the installation and creating your first program.</a:t>
            </a:r>
          </a:p>
          <a:p>
            <a:pPr marL="457200" indent="-457200">
              <a:buFont typeface="+mj-lt"/>
              <a:buAutoNum type="arabicPeriod"/>
            </a:pPr>
            <a:r>
              <a:rPr lang="en-US" dirty="0">
                <a:solidFill>
                  <a:schemeClr val="tx1"/>
                </a:solidFill>
              </a:rPr>
              <a:t>Create, test, and successfully execute your first program (this is in the Eclipse setup </a:t>
            </a:r>
            <a:r>
              <a:rPr lang="en-US" dirty="0" err="1">
                <a:solidFill>
                  <a:schemeClr val="tx1"/>
                </a:solidFill>
              </a:rPr>
              <a:t>powerpoint</a:t>
            </a:r>
            <a:r>
              <a:rPr lang="en-US" dirty="0">
                <a:solidFill>
                  <a:schemeClr val="tx1"/>
                </a:solidFill>
              </a:rPr>
              <a:t>).</a:t>
            </a:r>
          </a:p>
          <a:p>
            <a:pPr marL="457200" indent="-457200">
              <a:buFont typeface="+mj-lt"/>
              <a:buAutoNum type="arabicPeriod"/>
            </a:pPr>
            <a:r>
              <a:rPr lang="en-US" dirty="0">
                <a:solidFill>
                  <a:schemeClr val="tx1"/>
                </a:solidFill>
              </a:rPr>
              <a:t>Get ready for more Java coding!</a:t>
            </a:r>
          </a:p>
          <a:p>
            <a:pPr marL="457200" indent="-457200">
              <a:buFont typeface="+mj-lt"/>
              <a:buAutoNum type="arabicPeriod"/>
            </a:pPr>
            <a:endParaRPr lang="en-US" dirty="0">
              <a:solidFill>
                <a:schemeClr val="tx1"/>
              </a:solidFill>
            </a:endParaRP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3068381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normAutofit/>
          </a:bodyPr>
          <a:lstStyle/>
          <a:p>
            <a:r>
              <a:rPr lang="en-US" sz="4000" dirty="0"/>
              <a:t>Download, Install, and Configure the Java SE JDK</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a:bodyPr>
          <a:lstStyle/>
          <a:p>
            <a:r>
              <a:rPr lang="en-US" altLang="en-US" dirty="0"/>
              <a:t>First, we need to download the Java Standard Edition Software Development Kit (Java SE JDK) so that we can get the Java byte code compiler and all the source code libraries.</a:t>
            </a:r>
          </a:p>
          <a:p>
            <a:r>
              <a:rPr lang="en-US" altLang="en-US" dirty="0"/>
              <a:t>The links for the download are constantly changing.  It seems every six months there is a new page with a different URL.  So, if the following links do not work, you’ll need to search the internet for “Java JDK download” and find the correct link on your own.  It should be close to what you see in this document posted on </a:t>
            </a:r>
            <a:r>
              <a:rPr lang="en-US" altLang="en-US" dirty="0" err="1"/>
              <a:t>BlackBoard</a:t>
            </a:r>
            <a:r>
              <a:rPr lang="en-US" altLang="en-US" dirty="0"/>
              <a:t>.</a:t>
            </a:r>
          </a:p>
          <a:p>
            <a:endParaRPr lang="en-US" altLang="en-US" dirty="0">
              <a:solidFill>
                <a:srgbClr val="0000CC"/>
              </a:solidFill>
            </a:endParaRP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pic>
        <p:nvPicPr>
          <p:cNvPr id="6" name="Picture 5">
            <a:extLst>
              <a:ext uri="{FF2B5EF4-FFF2-40B4-BE49-F238E27FC236}">
                <a16:creationId xmlns:a16="http://schemas.microsoft.com/office/drawing/2014/main" id="{A1318AF8-A7BE-4400-8FDE-8B321C51C0E7}"/>
              </a:ext>
            </a:extLst>
          </p:cNvPr>
          <p:cNvPicPr>
            <a:picLocks noChangeAspect="1"/>
          </p:cNvPicPr>
          <p:nvPr/>
        </p:nvPicPr>
        <p:blipFill>
          <a:blip r:embed="rId4"/>
          <a:stretch>
            <a:fillRect/>
          </a:stretch>
        </p:blipFill>
        <p:spPr>
          <a:xfrm>
            <a:off x="2380149" y="3524833"/>
            <a:ext cx="7757389" cy="1430133"/>
          </a:xfrm>
          <a:prstGeom prst="rect">
            <a:avLst/>
          </a:prstGeom>
        </p:spPr>
      </p:pic>
    </p:spTree>
    <p:extLst>
      <p:ext uri="{BB962C8B-B14F-4D97-AF65-F5344CB8AC3E}">
        <p14:creationId xmlns:p14="http://schemas.microsoft.com/office/powerpoint/2010/main" val="267278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normAutofit/>
          </a:bodyPr>
          <a:lstStyle/>
          <a:p>
            <a:r>
              <a:rPr lang="en-US" sz="4000" dirty="0"/>
              <a:t>Download, Install, and </a:t>
            </a:r>
            <a:r>
              <a:rPr lang="en-US" sz="4000"/>
              <a:t>Setup Eclipse</a:t>
            </a:r>
            <a:endParaRPr lang="en-US" sz="4000" dirty="0"/>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a:bodyPr>
          <a:lstStyle/>
          <a:p>
            <a:r>
              <a:rPr lang="en-US" altLang="en-US" dirty="0"/>
              <a:t>Refer to the document posted online the download, install, and setup of Eclipse.</a:t>
            </a:r>
          </a:p>
          <a:p>
            <a:endParaRPr lang="en-US" altLang="en-US" dirty="0">
              <a:solidFill>
                <a:srgbClr val="0000CC"/>
              </a:solidFill>
            </a:endParaRP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pic>
        <p:nvPicPr>
          <p:cNvPr id="7" name="Picture 6">
            <a:extLst>
              <a:ext uri="{FF2B5EF4-FFF2-40B4-BE49-F238E27FC236}">
                <a16:creationId xmlns:a16="http://schemas.microsoft.com/office/drawing/2014/main" id="{9577DC9B-DA4B-45D9-BEED-F3B759A21700}"/>
              </a:ext>
            </a:extLst>
          </p:cNvPr>
          <p:cNvPicPr>
            <a:picLocks noChangeAspect="1"/>
          </p:cNvPicPr>
          <p:nvPr/>
        </p:nvPicPr>
        <p:blipFill>
          <a:blip r:embed="rId4"/>
          <a:stretch>
            <a:fillRect/>
          </a:stretch>
        </p:blipFill>
        <p:spPr>
          <a:xfrm>
            <a:off x="759700" y="2321493"/>
            <a:ext cx="10754966" cy="948966"/>
          </a:xfrm>
          <a:prstGeom prst="rect">
            <a:avLst/>
          </a:prstGeom>
        </p:spPr>
      </p:pic>
    </p:spTree>
    <p:extLst>
      <p:ext uri="{BB962C8B-B14F-4D97-AF65-F5344CB8AC3E}">
        <p14:creationId xmlns:p14="http://schemas.microsoft.com/office/powerpoint/2010/main" val="938351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Review Questions</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a:bodyPr>
          <a:lstStyle/>
          <a:p>
            <a:pPr marL="457200" indent="-457200">
              <a:buFont typeface="+mj-lt"/>
              <a:buAutoNum type="arabicPeriod"/>
            </a:pPr>
            <a:r>
              <a:rPr lang="en-US" dirty="0"/>
              <a:t>____________ stands for Java Development Kit. </a:t>
            </a:r>
          </a:p>
          <a:p>
            <a:pPr marL="749808" lvl="1" indent="-457200">
              <a:buFont typeface="+mj-lt"/>
              <a:buAutoNum type="alphaLcParenR"/>
            </a:pPr>
            <a:r>
              <a:rPr lang="en-US" dirty="0"/>
              <a:t>JDK</a:t>
            </a:r>
          </a:p>
          <a:p>
            <a:pPr marL="749808" lvl="1" indent="-457200">
              <a:buFont typeface="+mj-lt"/>
              <a:buAutoNum type="alphaLcParenR"/>
            </a:pPr>
            <a:r>
              <a:rPr lang="en-US" dirty="0"/>
              <a:t>JavaJDK</a:t>
            </a:r>
          </a:p>
          <a:p>
            <a:pPr marL="749808" lvl="1" indent="-457200">
              <a:buFont typeface="+mj-lt"/>
              <a:buAutoNum type="alphaLcParenR"/>
            </a:pPr>
            <a:r>
              <a:rPr lang="en-US" dirty="0"/>
              <a:t>Java</a:t>
            </a:r>
          </a:p>
          <a:p>
            <a:pPr marL="457200" indent="-457200">
              <a:buFont typeface="+mj-lt"/>
              <a:buAutoNum type="arabicPeriod"/>
            </a:pPr>
            <a:r>
              <a:rPr lang="en-US" dirty="0"/>
              <a:t>You must set your _____ system variable in windows so Java will work.</a:t>
            </a:r>
          </a:p>
          <a:p>
            <a:pPr marL="749808" lvl="1" indent="-457200">
              <a:buFont typeface="+mj-lt"/>
              <a:buAutoNum type="alphaLcParenR"/>
            </a:pPr>
            <a:r>
              <a:rPr lang="en-US" dirty="0"/>
              <a:t>JDK</a:t>
            </a:r>
          </a:p>
          <a:p>
            <a:pPr marL="749808" lvl="1" indent="-457200">
              <a:buFont typeface="+mj-lt"/>
              <a:buAutoNum type="alphaLcParenR"/>
            </a:pPr>
            <a:r>
              <a:rPr lang="en-US" dirty="0"/>
              <a:t>Java Docs</a:t>
            </a:r>
          </a:p>
          <a:p>
            <a:pPr marL="749808" lvl="1" indent="-457200">
              <a:buFont typeface="+mj-lt"/>
              <a:buAutoNum type="alphaLcParenR"/>
            </a:pPr>
            <a:r>
              <a:rPr lang="en-US" dirty="0"/>
              <a:t>Path</a:t>
            </a:r>
          </a:p>
          <a:p>
            <a:pPr marL="457200" indent="-457200">
              <a:buFont typeface="+mj-lt"/>
              <a:buAutoNum type="arabicPeriod"/>
            </a:pPr>
            <a:r>
              <a:rPr lang="en-US" dirty="0"/>
              <a:t>What does JVM stand for?</a:t>
            </a:r>
          </a:p>
          <a:p>
            <a:pPr marL="749808" lvl="1" indent="-457200">
              <a:buFont typeface="+mj-lt"/>
              <a:buAutoNum type="alphaLcParenR"/>
            </a:pPr>
            <a:r>
              <a:rPr lang="en-US" dirty="0"/>
              <a:t>Java Virtual Machine</a:t>
            </a:r>
          </a:p>
          <a:p>
            <a:pPr marL="749808" lvl="1" indent="-457200">
              <a:buFont typeface="+mj-lt"/>
              <a:buAutoNum type="alphaLcParenR"/>
            </a:pPr>
            <a:r>
              <a:rPr lang="en-US" dirty="0"/>
              <a:t>Java Virtual Material</a:t>
            </a:r>
          </a:p>
          <a:p>
            <a:pPr marL="749808" lvl="1" indent="-457200">
              <a:buFont typeface="+mj-lt"/>
              <a:buAutoNum type="alphaLcParenR"/>
            </a:pPr>
            <a:r>
              <a:rPr lang="en-US" dirty="0"/>
              <a:t>Java Vue Meeting</a:t>
            </a: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2579757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Review Questions - Answers</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4" y="1241462"/>
            <a:ext cx="10952690" cy="4733225"/>
          </a:xfrm>
          <a:solidFill>
            <a:schemeClr val="bg1"/>
          </a:solidFill>
        </p:spPr>
        <p:txBody>
          <a:bodyPr>
            <a:normAutofit/>
          </a:bodyPr>
          <a:lstStyle/>
          <a:p>
            <a:pPr marL="457200" indent="-457200">
              <a:buFont typeface="+mj-lt"/>
              <a:buAutoNum type="arabicPeriod"/>
            </a:pPr>
            <a:r>
              <a:rPr lang="en-US" dirty="0"/>
              <a:t>____________ stands for Java Development Kit. </a:t>
            </a:r>
          </a:p>
          <a:p>
            <a:pPr marL="749808" lvl="1" indent="-457200">
              <a:buFont typeface="+mj-lt"/>
              <a:buAutoNum type="alphaLcParenR"/>
            </a:pPr>
            <a:r>
              <a:rPr lang="en-US" u="sng" dirty="0"/>
              <a:t>JDK</a:t>
            </a:r>
          </a:p>
          <a:p>
            <a:pPr marL="749808" lvl="1" indent="-457200">
              <a:buFont typeface="+mj-lt"/>
              <a:buAutoNum type="alphaLcParenR"/>
            </a:pPr>
            <a:r>
              <a:rPr lang="en-US" dirty="0"/>
              <a:t>JavaJDK</a:t>
            </a:r>
          </a:p>
          <a:p>
            <a:pPr marL="749808" lvl="1" indent="-457200">
              <a:buFont typeface="+mj-lt"/>
              <a:buAutoNum type="alphaLcParenR"/>
            </a:pPr>
            <a:r>
              <a:rPr lang="en-US" dirty="0"/>
              <a:t>Java</a:t>
            </a:r>
          </a:p>
          <a:p>
            <a:pPr marL="457200" indent="-457200">
              <a:buFont typeface="+mj-lt"/>
              <a:buAutoNum type="arabicPeriod"/>
            </a:pPr>
            <a:r>
              <a:rPr lang="en-US" dirty="0"/>
              <a:t>You must set your _____ system variable in windows so Java will work.</a:t>
            </a:r>
          </a:p>
          <a:p>
            <a:pPr marL="749808" lvl="1" indent="-457200">
              <a:buFont typeface="+mj-lt"/>
              <a:buAutoNum type="alphaLcParenR"/>
            </a:pPr>
            <a:r>
              <a:rPr lang="en-US" dirty="0"/>
              <a:t>JDK</a:t>
            </a:r>
          </a:p>
          <a:p>
            <a:pPr marL="749808" lvl="1" indent="-457200">
              <a:buFont typeface="+mj-lt"/>
              <a:buAutoNum type="alphaLcParenR"/>
            </a:pPr>
            <a:r>
              <a:rPr lang="en-US" dirty="0"/>
              <a:t>Java Docs</a:t>
            </a:r>
          </a:p>
          <a:p>
            <a:pPr marL="749808" lvl="1" indent="-457200">
              <a:buFont typeface="+mj-lt"/>
              <a:buAutoNum type="alphaLcParenR"/>
            </a:pPr>
            <a:r>
              <a:rPr lang="en-US" u="sng" dirty="0"/>
              <a:t>Path</a:t>
            </a:r>
          </a:p>
          <a:p>
            <a:pPr marL="457200" indent="-457200">
              <a:buFont typeface="+mj-lt"/>
              <a:buAutoNum type="arabicPeriod"/>
            </a:pPr>
            <a:r>
              <a:rPr lang="en-US" dirty="0"/>
              <a:t>What does JVM stand for?</a:t>
            </a:r>
          </a:p>
          <a:p>
            <a:pPr marL="749808" lvl="1" indent="-457200">
              <a:buFont typeface="+mj-lt"/>
              <a:buAutoNum type="alphaLcParenR"/>
            </a:pPr>
            <a:r>
              <a:rPr lang="en-US" u="sng" dirty="0"/>
              <a:t>Java Virtual Machine</a:t>
            </a:r>
          </a:p>
          <a:p>
            <a:pPr marL="749808" lvl="1" indent="-457200">
              <a:buFont typeface="+mj-lt"/>
              <a:buAutoNum type="alphaLcParenR"/>
            </a:pPr>
            <a:r>
              <a:rPr lang="en-US" dirty="0"/>
              <a:t>Java Virtual Material</a:t>
            </a:r>
          </a:p>
          <a:p>
            <a:pPr marL="749808" lvl="1" indent="-457200">
              <a:buFont typeface="+mj-lt"/>
              <a:buAutoNum type="alphaLcParenR"/>
            </a:pPr>
            <a:r>
              <a:rPr lang="en-US" dirty="0"/>
              <a:t>Java Vue Meeting</a:t>
            </a:r>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2646520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2566-21A4-4296-B4B5-453271C51723}"/>
              </a:ext>
            </a:extLst>
          </p:cNvPr>
          <p:cNvSpPr>
            <a:spLocks noGrp="1"/>
          </p:cNvSpPr>
          <p:nvPr>
            <p:ph type="title"/>
          </p:nvPr>
        </p:nvSpPr>
        <p:spPr>
          <a:xfrm>
            <a:off x="677334" y="100942"/>
            <a:ext cx="10952691" cy="977326"/>
          </a:xfrm>
        </p:spPr>
        <p:txBody>
          <a:bodyPr/>
          <a:lstStyle/>
          <a:p>
            <a:r>
              <a:rPr lang="en-US" dirty="0"/>
              <a:t>Lecture Summary</a:t>
            </a:r>
          </a:p>
        </p:txBody>
      </p:sp>
      <p:sp>
        <p:nvSpPr>
          <p:cNvPr id="3" name="Content Placeholder 2">
            <a:extLst>
              <a:ext uri="{FF2B5EF4-FFF2-40B4-BE49-F238E27FC236}">
                <a16:creationId xmlns:a16="http://schemas.microsoft.com/office/drawing/2014/main" id="{1FD390FE-AE72-4DB1-8820-5ACAC0C4BB74}"/>
              </a:ext>
            </a:extLst>
          </p:cNvPr>
          <p:cNvSpPr>
            <a:spLocks noGrp="1"/>
          </p:cNvSpPr>
          <p:nvPr>
            <p:ph idx="1"/>
          </p:nvPr>
        </p:nvSpPr>
        <p:spPr>
          <a:xfrm>
            <a:off x="677333" y="1241462"/>
            <a:ext cx="10952690" cy="4733225"/>
          </a:xfrm>
          <a:solidFill>
            <a:schemeClr val="bg1"/>
          </a:solidFill>
        </p:spPr>
        <p:txBody>
          <a:bodyPr/>
          <a:lstStyle/>
          <a:p>
            <a:pPr marL="0" indent="0">
              <a:buNone/>
            </a:pPr>
            <a:r>
              <a:rPr lang="en-US" dirty="0"/>
              <a:t>Our lecture covered the following topics:</a:t>
            </a:r>
          </a:p>
          <a:p>
            <a:pPr lvl="1">
              <a:buFont typeface="Courier New" panose="02070309020205020404" pitchFamily="49" charset="0"/>
              <a:buChar char="o"/>
            </a:pPr>
            <a:r>
              <a:rPr lang="en-US" dirty="0"/>
              <a:t>You must download the Java JDK and install it so you can develop Java programs.</a:t>
            </a:r>
          </a:p>
          <a:p>
            <a:pPr lvl="1">
              <a:buFont typeface="Courier New" panose="02070309020205020404" pitchFamily="49" charset="0"/>
              <a:buChar char="o"/>
            </a:pPr>
            <a:r>
              <a:rPr lang="en-US" dirty="0"/>
              <a:t>The JRE is part of the JDK 11 and is used to execute the compiled Java programs.</a:t>
            </a:r>
          </a:p>
          <a:p>
            <a:pPr lvl="1">
              <a:buFont typeface="Courier New" panose="02070309020205020404" pitchFamily="49" charset="0"/>
              <a:buChar char="o"/>
            </a:pPr>
            <a:r>
              <a:rPr lang="en-US" dirty="0"/>
              <a:t>The JVM is a program that provides the runtime environment necessary for Java programs to execute. </a:t>
            </a:r>
          </a:p>
          <a:p>
            <a:pPr lvl="1">
              <a:buFont typeface="Courier New" panose="02070309020205020404" pitchFamily="49" charset="0"/>
              <a:buChar char="o"/>
            </a:pPr>
            <a:endParaRPr lang="en-US" dirty="0"/>
          </a:p>
        </p:txBody>
      </p:sp>
      <p:pic>
        <p:nvPicPr>
          <p:cNvPr id="4" name="Picture 3">
            <a:extLst>
              <a:ext uri="{FF2B5EF4-FFF2-40B4-BE49-F238E27FC236}">
                <a16:creationId xmlns:a16="http://schemas.microsoft.com/office/drawing/2014/main" id="{6D653AFF-60BC-4019-BE78-92D3C2FCD5D3}"/>
              </a:ext>
            </a:extLst>
          </p:cNvPr>
          <p:cNvPicPr>
            <a:picLocks noChangeAspect="1"/>
          </p:cNvPicPr>
          <p:nvPr/>
        </p:nvPicPr>
        <p:blipFill>
          <a:blip r:embed="rId3"/>
          <a:stretch>
            <a:fillRect/>
          </a:stretch>
        </p:blipFill>
        <p:spPr>
          <a:xfrm>
            <a:off x="10401300" y="264136"/>
            <a:ext cx="1534911" cy="441287"/>
          </a:xfrm>
          <a:prstGeom prst="rect">
            <a:avLst/>
          </a:prstGeom>
        </p:spPr>
      </p:pic>
    </p:spTree>
    <p:extLst>
      <p:ext uri="{BB962C8B-B14F-4D97-AF65-F5344CB8AC3E}">
        <p14:creationId xmlns:p14="http://schemas.microsoft.com/office/powerpoint/2010/main" val="20725581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5671</TotalTime>
  <Words>1569</Words>
  <Application>Microsoft Office PowerPoint</Application>
  <PresentationFormat>Widescreen</PresentationFormat>
  <Paragraphs>110</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Courier New</vt:lpstr>
      <vt:lpstr>OracleSansVF</vt:lpstr>
      <vt:lpstr>Retrospect</vt:lpstr>
      <vt:lpstr>Getting Started</vt:lpstr>
      <vt:lpstr>Lecture Overview</vt:lpstr>
      <vt:lpstr>The Java Programming Language</vt:lpstr>
      <vt:lpstr>What is the JVM?</vt:lpstr>
      <vt:lpstr>Recent Java Versions</vt:lpstr>
      <vt:lpstr>Setting up your Computer</vt:lpstr>
      <vt:lpstr>Download, Install, and Configure the Java SE JDK</vt:lpstr>
      <vt:lpstr>Download, Install, and Setup Eclipse</vt:lpstr>
      <vt:lpstr>Review Questions</vt:lpstr>
      <vt:lpstr>Review Questions - Answers</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Tomie Gartland</dc:creator>
  <cp:lastModifiedBy>Tomie Gartland</cp:lastModifiedBy>
  <cp:revision>110</cp:revision>
  <cp:lastPrinted>2018-10-14T23:38:54Z</cp:lastPrinted>
  <dcterms:created xsi:type="dcterms:W3CDTF">2017-10-25T21:14:45Z</dcterms:created>
  <dcterms:modified xsi:type="dcterms:W3CDTF">2022-01-19T17:58:32Z</dcterms:modified>
</cp:coreProperties>
</file>